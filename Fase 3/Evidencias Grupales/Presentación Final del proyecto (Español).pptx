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Object Sans Bold Italics" charset="1" panose="00000300000000000000"/>
      <p:regular r:id="rId18"/>
    </p:embeddedFont>
    <p:embeddedFont>
      <p:font typeface="Object Sans Italics" charset="1" panose="00000300000000000000"/>
      <p:regular r:id="rId19"/>
    </p:embeddedFont>
    <p:embeddedFont>
      <p:font typeface="DM Sans" charset="1" panose="00000000000000000000"/>
      <p:regular r:id="rId20"/>
    </p:embeddedFont>
    <p:embeddedFont>
      <p:font typeface="DM Sans Bold" charset="1" panose="000000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jpe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2.jpe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2.jpe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2.jpe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6.jpe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1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3.pn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Relationship Id="rId9" Target="../media/image2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https://drive.google.com/file/d/1Kd9vWvZGbon20PLHtsbtVS41ZpztFCzR/view?usp=sharing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853635" y="0"/>
            <a:ext cx="8434365" cy="10287000"/>
            <a:chOff x="0" y="0"/>
            <a:chExt cx="666419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6419" cy="812800"/>
            </a:xfrm>
            <a:custGeom>
              <a:avLst/>
              <a:gdLst/>
              <a:ahLst/>
              <a:cxnLst/>
              <a:rect r="r" b="b" t="t" l="l"/>
              <a:pathLst>
                <a:path h="812800" w="666419">
                  <a:moveTo>
                    <a:pt x="0" y="0"/>
                  </a:moveTo>
                  <a:lnTo>
                    <a:pt x="666419" y="0"/>
                  </a:lnTo>
                  <a:lnTo>
                    <a:pt x="666419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-68983" t="0" r="-56356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843083" y="0"/>
            <a:ext cx="8444917" cy="10287000"/>
            <a:chOff x="0" y="0"/>
            <a:chExt cx="2224176" cy="27093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4176" cy="2709333"/>
            </a:xfrm>
            <a:custGeom>
              <a:avLst/>
              <a:gdLst/>
              <a:ahLst/>
              <a:cxnLst/>
              <a:rect r="r" b="b" t="t" l="l"/>
              <a:pathLst>
                <a:path h="2709333" w="2224176">
                  <a:moveTo>
                    <a:pt x="0" y="0"/>
                  </a:moveTo>
                  <a:lnTo>
                    <a:pt x="2224176" y="0"/>
                  </a:lnTo>
                  <a:lnTo>
                    <a:pt x="222417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true">
              <a:gsLst>
                <a:gs pos="0">
                  <a:srgbClr val="0E0E0E">
                    <a:alpha val="100000"/>
                  </a:srgbClr>
                </a:gs>
                <a:gs pos="100000">
                  <a:srgbClr val="0E0E0E">
                    <a:alpha val="15000"/>
                  </a:srgbClr>
                </a:gs>
              </a:gsLst>
              <a:lin ang="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224176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843260" y="3437757"/>
            <a:ext cx="10545346" cy="12398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84"/>
              </a:lnSpc>
            </a:pPr>
            <a:r>
              <a:rPr lang="en-US" b="true" sz="9284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CARMATCH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45925" y="7967459"/>
            <a:ext cx="5015420" cy="2319541"/>
            <a:chOff x="0" y="0"/>
            <a:chExt cx="651256" cy="30119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51256" cy="301194"/>
            </a:xfrm>
            <a:custGeom>
              <a:avLst/>
              <a:gdLst/>
              <a:ahLst/>
              <a:cxnLst/>
              <a:rect r="r" b="b" t="t" l="l"/>
              <a:pathLst>
                <a:path h="301194" w="651256">
                  <a:moveTo>
                    <a:pt x="203200" y="0"/>
                  </a:moveTo>
                  <a:lnTo>
                    <a:pt x="651256" y="0"/>
                  </a:lnTo>
                  <a:lnTo>
                    <a:pt x="448056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1477B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01600" y="-38100"/>
              <a:ext cx="448056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065907" y="0"/>
            <a:ext cx="8579979" cy="5985256"/>
            <a:chOff x="0" y="0"/>
            <a:chExt cx="431767" cy="30119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1767" cy="301194"/>
            </a:xfrm>
            <a:custGeom>
              <a:avLst/>
              <a:gdLst/>
              <a:ahLst/>
              <a:cxnLst/>
              <a:rect r="r" b="b" t="t" l="l"/>
              <a:pathLst>
                <a:path h="301194" w="431767">
                  <a:moveTo>
                    <a:pt x="203200" y="0"/>
                  </a:moveTo>
                  <a:lnTo>
                    <a:pt x="431767" y="0"/>
                  </a:lnTo>
                  <a:lnTo>
                    <a:pt x="228567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1477B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01600" y="-38100"/>
              <a:ext cx="228567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7657476" y="4046574"/>
            <a:ext cx="11713131" cy="5437031"/>
          </a:xfrm>
          <a:custGeom>
            <a:avLst/>
            <a:gdLst/>
            <a:ahLst/>
            <a:cxnLst/>
            <a:rect r="r" b="b" t="t" l="l"/>
            <a:pathLst>
              <a:path h="5437031" w="11713131">
                <a:moveTo>
                  <a:pt x="0" y="0"/>
                </a:moveTo>
                <a:lnTo>
                  <a:pt x="11713131" y="0"/>
                </a:lnTo>
                <a:lnTo>
                  <a:pt x="11713131" y="5437031"/>
                </a:lnTo>
                <a:lnTo>
                  <a:pt x="0" y="54370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9242" t="-51395" r="-23268" b="-14776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816819" y="8657857"/>
            <a:ext cx="2442481" cy="600443"/>
          </a:xfrm>
          <a:custGeom>
            <a:avLst/>
            <a:gdLst/>
            <a:ahLst/>
            <a:cxnLst/>
            <a:rect r="r" b="b" t="t" l="l"/>
            <a:pathLst>
              <a:path h="600443" w="2442481">
                <a:moveTo>
                  <a:pt x="0" y="0"/>
                </a:moveTo>
                <a:lnTo>
                  <a:pt x="2442481" y="0"/>
                </a:lnTo>
                <a:lnTo>
                  <a:pt x="2442481" y="600443"/>
                </a:lnTo>
                <a:lnTo>
                  <a:pt x="0" y="6004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028700" y="2992628"/>
            <a:ext cx="1465547" cy="1538265"/>
          </a:xfrm>
          <a:custGeom>
            <a:avLst/>
            <a:gdLst/>
            <a:ahLst/>
            <a:cxnLst/>
            <a:rect r="r" b="b" t="t" l="l"/>
            <a:pathLst>
              <a:path h="1538265" w="1465547">
                <a:moveTo>
                  <a:pt x="0" y="0"/>
                </a:moveTo>
                <a:lnTo>
                  <a:pt x="1465547" y="0"/>
                </a:lnTo>
                <a:lnTo>
                  <a:pt x="1465547" y="1538265"/>
                </a:lnTo>
                <a:lnTo>
                  <a:pt x="0" y="153826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28700" y="6025534"/>
            <a:ext cx="2406372" cy="931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i="true">
                <a:solidFill>
                  <a:srgbClr val="FFFFFF"/>
                </a:solidFill>
                <a:latin typeface="Object Sans Italics"/>
                <a:ea typeface="Object Sans Italics"/>
                <a:cs typeface="Object Sans Italics"/>
                <a:sym typeface="Object Sans Italics"/>
              </a:rPr>
              <a:t>Mario Fica</a:t>
            </a:r>
          </a:p>
          <a:p>
            <a:pPr algn="l">
              <a:lnSpc>
                <a:spcPts val="3779"/>
              </a:lnSpc>
            </a:pPr>
            <a:r>
              <a:rPr lang="en-US" sz="2699" i="true">
                <a:solidFill>
                  <a:srgbClr val="FFFFFF"/>
                </a:solidFill>
                <a:latin typeface="Object Sans Italics"/>
                <a:ea typeface="Object Sans Italics"/>
                <a:cs typeface="Object Sans Italics"/>
                <a:sym typeface="Object Sans Italics"/>
              </a:rPr>
              <a:t>Ulises Rosales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028700" y="8460640"/>
            <a:ext cx="4452117" cy="666589"/>
            <a:chOff x="0" y="0"/>
            <a:chExt cx="2011660" cy="30119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011660" cy="301194"/>
            </a:xfrm>
            <a:custGeom>
              <a:avLst/>
              <a:gdLst/>
              <a:ahLst/>
              <a:cxnLst/>
              <a:rect r="r" b="b" t="t" l="l"/>
              <a:pathLst>
                <a:path h="301194" w="2011660">
                  <a:moveTo>
                    <a:pt x="203200" y="0"/>
                  </a:moveTo>
                  <a:lnTo>
                    <a:pt x="2011660" y="0"/>
                  </a:lnTo>
                  <a:lnTo>
                    <a:pt x="1808460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101600" y="-38100"/>
              <a:ext cx="1808460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2978419" y="8219837"/>
            <a:ext cx="2675593" cy="481607"/>
          </a:xfrm>
          <a:custGeom>
            <a:avLst/>
            <a:gdLst/>
            <a:ahLst/>
            <a:cxnLst/>
            <a:rect r="r" b="b" t="t" l="l"/>
            <a:pathLst>
              <a:path h="481607" w="2675593">
                <a:moveTo>
                  <a:pt x="0" y="0"/>
                </a:moveTo>
                <a:lnTo>
                  <a:pt x="2675594" y="0"/>
                </a:lnTo>
                <a:lnTo>
                  <a:pt x="2675594" y="481607"/>
                </a:lnTo>
                <a:lnTo>
                  <a:pt x="0" y="48160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AutoShape 22" id="22"/>
          <p:cNvSpPr/>
          <p:nvPr/>
        </p:nvSpPr>
        <p:spPr>
          <a:xfrm>
            <a:off x="1028700" y="5711067"/>
            <a:ext cx="2226058" cy="0"/>
          </a:xfrm>
          <a:prstGeom prst="line">
            <a:avLst/>
          </a:prstGeom>
          <a:ln cap="rnd" w="47625">
            <a:solidFill>
              <a:srgbClr val="1CDA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3" id="23"/>
          <p:cNvSpPr/>
          <p:nvPr/>
        </p:nvSpPr>
        <p:spPr>
          <a:xfrm flipH="false" flipV="false" rot="-3353601">
            <a:off x="10116159" y="1992177"/>
            <a:ext cx="6544895" cy="1178081"/>
          </a:xfrm>
          <a:custGeom>
            <a:avLst/>
            <a:gdLst/>
            <a:ahLst/>
            <a:cxnLst/>
            <a:rect r="r" b="b" t="t" l="l"/>
            <a:pathLst>
              <a:path h="1178081" w="6544895">
                <a:moveTo>
                  <a:pt x="0" y="0"/>
                </a:moveTo>
                <a:lnTo>
                  <a:pt x="6544895" y="0"/>
                </a:lnTo>
                <a:lnTo>
                  <a:pt x="6544895" y="1178081"/>
                </a:lnTo>
                <a:lnTo>
                  <a:pt x="0" y="117808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9519" y="1028700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967117" y="-379254"/>
            <a:ext cx="10199119" cy="11965489"/>
            <a:chOff x="0" y="0"/>
            <a:chExt cx="866016" cy="1016000"/>
          </a:xfrm>
        </p:grpSpPr>
        <p:sp>
          <p:nvSpPr>
            <p:cNvPr name="Freeform 4" id="4"/>
            <p:cNvSpPr/>
            <p:nvPr/>
          </p:nvSpPr>
          <p:spPr>
            <a:xfrm flipH="true" flipV="false" rot="0">
              <a:off x="0" y="0"/>
              <a:ext cx="866016" cy="1016000"/>
            </a:xfrm>
            <a:custGeom>
              <a:avLst/>
              <a:gdLst/>
              <a:ahLst/>
              <a:cxnLst/>
              <a:rect r="r" b="b" t="t" l="l"/>
              <a:pathLst>
                <a:path h="1016000" w="866016">
                  <a:moveTo>
                    <a:pt x="866016" y="0"/>
                  </a:moveTo>
                  <a:lnTo>
                    <a:pt x="0" y="0"/>
                  </a:lnTo>
                  <a:lnTo>
                    <a:pt x="0" y="1016000"/>
                  </a:lnTo>
                  <a:lnTo>
                    <a:pt x="866016" y="1016000"/>
                  </a:lnTo>
                  <a:close/>
                </a:path>
              </a:pathLst>
            </a:custGeom>
            <a:blipFill>
              <a:blip r:embed="rId4">
                <a:alphaModFix amt="19999"/>
              </a:blip>
              <a:stretch>
                <a:fillRect l="-4168" t="-16634" r="0" b="-16634"/>
              </a:stretch>
            </a:blipFill>
          </p:spPr>
        </p:sp>
      </p:grpSp>
      <p:sp>
        <p:nvSpPr>
          <p:cNvPr name="AutoShape 5" id="5"/>
          <p:cNvSpPr/>
          <p:nvPr/>
        </p:nvSpPr>
        <p:spPr>
          <a:xfrm flipV="true">
            <a:off x="14689675" y="9220867"/>
            <a:ext cx="2569625" cy="0"/>
          </a:xfrm>
          <a:prstGeom prst="line">
            <a:avLst/>
          </a:prstGeom>
          <a:ln cap="flat" w="38100">
            <a:solidFill>
              <a:srgbClr val="1477B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5461919" y="1181100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76154" y="2469423"/>
            <a:ext cx="9510064" cy="1944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Los usuarios pierden tiempo buscando repuestos y accesorios en múltiples sitios web.</a:t>
            </a:r>
          </a:p>
          <a:p>
            <a:pPr algn="l">
              <a:lnSpc>
                <a:spcPts val="3079"/>
              </a:lnSpc>
            </a:pP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No existe una plataforma centralizada que facilite la comparación.</a:t>
            </a:r>
          </a:p>
          <a:p>
            <a:pPr algn="l">
              <a:lnSpc>
                <a:spcPts val="307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476154" y="4850606"/>
            <a:ext cx="5369631" cy="519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i="true" b="true">
                <a:solidFill>
                  <a:srgbClr val="1CDA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Propuesta de solución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9788" y="5555866"/>
            <a:ext cx="10809478" cy="311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CarMatch recolecta datos mediante scraping automatizado.</a:t>
            </a:r>
          </a:p>
          <a:p>
            <a:pPr algn="l">
              <a:lnSpc>
                <a:spcPts val="3079"/>
              </a:lnSpc>
            </a:pP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Centraliza la información en una base de datos en la nube (PostgreSQL en GCP).</a:t>
            </a:r>
          </a:p>
          <a:p>
            <a:pPr algn="l">
              <a:lnSpc>
                <a:spcPts val="3079"/>
              </a:lnSpc>
            </a:pP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Exp</a:t>
            </a: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one resultados a través de un frontend intuitivo (Next.js) y un backend robusto (Django).</a:t>
            </a:r>
          </a:p>
          <a:p>
            <a:pPr algn="l">
              <a:lnSpc>
                <a:spcPts val="3079"/>
              </a:lnSpc>
            </a:pP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76154" y="1181100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179266" y="4814662"/>
            <a:ext cx="5369631" cy="519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i="true" b="true">
                <a:solidFill>
                  <a:srgbClr val="1CDA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Beneficios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909145" y="5555866"/>
            <a:ext cx="6948387" cy="1163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ahorro de tiempo y decisiones informadas.</a:t>
            </a:r>
          </a:p>
          <a:p>
            <a:pPr algn="l">
              <a:lnSpc>
                <a:spcPts val="3079"/>
              </a:lnSpc>
            </a:pP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 niveles de texto que no se cambien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93920" y="1147182"/>
            <a:ext cx="13089419" cy="821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00"/>
              </a:lnSpc>
            </a:pPr>
            <a:r>
              <a:rPr lang="en-US" b="true" sz="61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DESCRIPCIÓN DEL PROYECTO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9519" y="1028700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321625" y="41227"/>
            <a:ext cx="7727883" cy="12084145"/>
            <a:chOff x="0" y="0"/>
            <a:chExt cx="470593" cy="735870"/>
          </a:xfrm>
        </p:grpSpPr>
        <p:sp>
          <p:nvSpPr>
            <p:cNvPr name="Freeform 4" id="4"/>
            <p:cNvSpPr/>
            <p:nvPr/>
          </p:nvSpPr>
          <p:spPr>
            <a:xfrm flipH="true" flipV="false" rot="0">
              <a:off x="0" y="0"/>
              <a:ext cx="470593" cy="735870"/>
            </a:xfrm>
            <a:custGeom>
              <a:avLst/>
              <a:gdLst/>
              <a:ahLst/>
              <a:cxnLst/>
              <a:rect r="r" b="b" t="t" l="l"/>
              <a:pathLst>
                <a:path h="735870" w="470593">
                  <a:moveTo>
                    <a:pt x="267393" y="0"/>
                  </a:moveTo>
                  <a:lnTo>
                    <a:pt x="0" y="0"/>
                  </a:lnTo>
                  <a:lnTo>
                    <a:pt x="203200" y="735870"/>
                  </a:lnTo>
                  <a:lnTo>
                    <a:pt x="470593" y="735870"/>
                  </a:lnTo>
                  <a:lnTo>
                    <a:pt x="267393" y="0"/>
                  </a:lnTo>
                  <a:close/>
                </a:path>
              </a:pathLst>
            </a:custGeom>
            <a:blipFill>
              <a:blip r:embed="rId4">
                <a:alphaModFix amt="59000"/>
              </a:blip>
              <a:stretch>
                <a:fillRect l="-67351" t="-2719" r="-73734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028700" y="2795509"/>
            <a:ext cx="8651909" cy="5015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58" indent="-259079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Implementar flujos de scraping en N8N.</a:t>
            </a:r>
          </a:p>
          <a:p>
            <a:pPr algn="l">
              <a:lnSpc>
                <a:spcPts val="3359"/>
              </a:lnSpc>
            </a:pPr>
          </a:p>
          <a:p>
            <a:pPr algn="l" marL="518158" indent="-259079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Construir base de datos en PostgreSQL (GCP).</a:t>
            </a:r>
          </a:p>
          <a:p>
            <a:pPr algn="l">
              <a:lnSpc>
                <a:spcPts val="3359"/>
              </a:lnSpc>
            </a:pPr>
          </a:p>
          <a:p>
            <a:pPr algn="l" marL="518158" indent="-259079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Desarrollar backend en Django.</a:t>
            </a:r>
          </a:p>
          <a:p>
            <a:pPr algn="l">
              <a:lnSpc>
                <a:spcPts val="3359"/>
              </a:lnSpc>
            </a:pPr>
          </a:p>
          <a:p>
            <a:pPr algn="l" marL="518158" indent="-259079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Implementar frontend en Django.</a:t>
            </a:r>
          </a:p>
          <a:p>
            <a:pPr algn="l">
              <a:lnSpc>
                <a:spcPts val="3359"/>
              </a:lnSpc>
            </a:pPr>
          </a:p>
          <a:p>
            <a:pPr algn="l" marL="518158" indent="-259079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Validar seguridad y confiabilidad de la solución.</a:t>
            </a:r>
          </a:p>
          <a:p>
            <a:pPr algn="l">
              <a:lnSpc>
                <a:spcPts val="3359"/>
              </a:lnSpc>
            </a:pPr>
          </a:p>
          <a:p>
            <a:pPr algn="l" marL="518158" indent="-259079" lvl="1">
              <a:lnSpc>
                <a:spcPts val="335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Gestionar el proyecto con entregables formales.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76154" y="1218040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232205" y="1133475"/>
            <a:ext cx="13089419" cy="821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00"/>
              </a:lnSpc>
            </a:pPr>
            <a:r>
              <a:rPr lang="en-US" b="true" sz="61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OBJETIVOS ESPECÍFICOS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061930" y="730457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2"/>
                </a:lnTo>
                <a:lnTo>
                  <a:pt x="0" y="479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496342" y="1229730"/>
            <a:ext cx="13241921" cy="837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3"/>
              </a:lnSpc>
            </a:pPr>
            <a:r>
              <a:rPr lang="en-US" b="true" sz="6153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ALCANCES/LIMITACIONES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624172" y="2828578"/>
            <a:ext cx="3767516" cy="464075"/>
            <a:chOff x="0" y="0"/>
            <a:chExt cx="2445192" cy="3011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5192" cy="301194"/>
            </a:xfrm>
            <a:custGeom>
              <a:avLst/>
              <a:gdLst/>
              <a:ahLst/>
              <a:cxnLst/>
              <a:rect r="r" b="b" t="t" l="l"/>
              <a:pathLst>
                <a:path h="301194" w="2445192">
                  <a:moveTo>
                    <a:pt x="203200" y="0"/>
                  </a:moveTo>
                  <a:lnTo>
                    <a:pt x="2445192" y="0"/>
                  </a:lnTo>
                  <a:lnTo>
                    <a:pt x="2241992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101600" y="-38100"/>
              <a:ext cx="2241992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491841" y="2799433"/>
            <a:ext cx="2680111" cy="465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84" i="true" b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Alcances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7383012" y="359245"/>
            <a:ext cx="7727883" cy="12084145"/>
            <a:chOff x="0" y="0"/>
            <a:chExt cx="470593" cy="735870"/>
          </a:xfrm>
        </p:grpSpPr>
        <p:sp>
          <p:nvSpPr>
            <p:cNvPr name="Freeform 9" id="9"/>
            <p:cNvSpPr/>
            <p:nvPr/>
          </p:nvSpPr>
          <p:spPr>
            <a:xfrm flipH="true" flipV="false" rot="0">
              <a:off x="0" y="0"/>
              <a:ext cx="470593" cy="735870"/>
            </a:xfrm>
            <a:custGeom>
              <a:avLst/>
              <a:gdLst/>
              <a:ahLst/>
              <a:cxnLst/>
              <a:rect r="r" b="b" t="t" l="l"/>
              <a:pathLst>
                <a:path h="735870" w="470593">
                  <a:moveTo>
                    <a:pt x="267393" y="0"/>
                  </a:moveTo>
                  <a:lnTo>
                    <a:pt x="0" y="0"/>
                  </a:lnTo>
                  <a:lnTo>
                    <a:pt x="203200" y="735870"/>
                  </a:lnTo>
                  <a:lnTo>
                    <a:pt x="470593" y="735870"/>
                  </a:lnTo>
                  <a:lnTo>
                    <a:pt x="267393" y="0"/>
                  </a:lnTo>
                  <a:close/>
                </a:path>
              </a:pathLst>
            </a:custGeom>
            <a:blipFill>
              <a:blip r:embed="rId4">
                <a:alphaModFix amt="8999"/>
              </a:blip>
              <a:stretch>
                <a:fillRect l="-67351" t="-2719" r="-73734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89042" y="4293390"/>
            <a:ext cx="5796576" cy="1610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2–3 categorías top (ej. frenos, filtros)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2–3 tiendas de las regiones de Chile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búsqueda+comparación, sin checkout.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21820" y="1209779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352293" y="4293390"/>
            <a:ext cx="5796576" cy="225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Cambi</a:t>
            </a: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os de código HTML.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Anti - Bots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TOS ( Terms Of Service)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Sin Garantias de Instalacion o ventas.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215135" y="4293390"/>
            <a:ext cx="5796576" cy="1610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Rotaciones de Usuarios Sinteticos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Validaciones</a:t>
            </a:r>
          </a:p>
          <a:p>
            <a:pPr algn="l">
              <a:lnSpc>
                <a:spcPts val="2608"/>
              </a:lnSpc>
            </a:pPr>
          </a:p>
          <a:p>
            <a:pPr algn="l" marL="402217" indent="-201108" lvl="1">
              <a:lnSpc>
                <a:spcPts val="2608"/>
              </a:lnSpc>
              <a:buFont typeface="Arial"/>
              <a:buChar char="•"/>
            </a:pPr>
            <a:r>
              <a:rPr lang="en-US" b="true" sz="1862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Logs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668163" y="2816649"/>
            <a:ext cx="3767516" cy="464075"/>
            <a:chOff x="0" y="0"/>
            <a:chExt cx="2445192" cy="30119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45192" cy="301194"/>
            </a:xfrm>
            <a:custGeom>
              <a:avLst/>
              <a:gdLst/>
              <a:ahLst/>
              <a:cxnLst/>
              <a:rect r="r" b="b" t="t" l="l"/>
              <a:pathLst>
                <a:path h="301194" w="2445192">
                  <a:moveTo>
                    <a:pt x="203200" y="0"/>
                  </a:moveTo>
                  <a:lnTo>
                    <a:pt x="2445192" y="0"/>
                  </a:lnTo>
                  <a:lnTo>
                    <a:pt x="2241992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01600" y="-38100"/>
              <a:ext cx="2241992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-5400000">
            <a:off x="1013555" y="2912134"/>
            <a:ext cx="312620" cy="257530"/>
          </a:xfrm>
          <a:custGeom>
            <a:avLst/>
            <a:gdLst/>
            <a:ahLst/>
            <a:cxnLst/>
            <a:rect r="r" b="b" t="t" l="l"/>
            <a:pathLst>
              <a:path h="257530" w="312620">
                <a:moveTo>
                  <a:pt x="0" y="0"/>
                </a:moveTo>
                <a:lnTo>
                  <a:pt x="312619" y="0"/>
                </a:lnTo>
                <a:lnTo>
                  <a:pt x="312619" y="257530"/>
                </a:lnTo>
                <a:lnTo>
                  <a:pt x="0" y="25753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15872" t="0" r="-1622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7513214" y="2815510"/>
            <a:ext cx="2680111" cy="465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84" i="true" b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Limitaciones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-5400000">
            <a:off x="7063177" y="2923168"/>
            <a:ext cx="284614" cy="234459"/>
          </a:xfrm>
          <a:custGeom>
            <a:avLst/>
            <a:gdLst/>
            <a:ahLst/>
            <a:cxnLst/>
            <a:rect r="r" b="b" t="t" l="l"/>
            <a:pathLst>
              <a:path h="234459" w="284614">
                <a:moveTo>
                  <a:pt x="0" y="0"/>
                </a:moveTo>
                <a:lnTo>
                  <a:pt x="284614" y="0"/>
                </a:lnTo>
                <a:lnTo>
                  <a:pt x="284614" y="234459"/>
                </a:lnTo>
                <a:lnTo>
                  <a:pt x="0" y="23445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15872" t="0" r="-1622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2542025" y="2808861"/>
            <a:ext cx="3767516" cy="464075"/>
            <a:chOff x="0" y="0"/>
            <a:chExt cx="2445192" cy="3011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445192" cy="301194"/>
            </a:xfrm>
            <a:custGeom>
              <a:avLst/>
              <a:gdLst/>
              <a:ahLst/>
              <a:cxnLst/>
              <a:rect r="r" b="b" t="t" l="l"/>
              <a:pathLst>
                <a:path h="301194" w="2445192">
                  <a:moveTo>
                    <a:pt x="203200" y="0"/>
                  </a:moveTo>
                  <a:lnTo>
                    <a:pt x="2445192" y="0"/>
                  </a:lnTo>
                  <a:lnTo>
                    <a:pt x="2241992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01600" y="-38100"/>
              <a:ext cx="2241992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3387076" y="2807723"/>
            <a:ext cx="2680111" cy="465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8"/>
              </a:lnSpc>
            </a:pPr>
            <a:r>
              <a:rPr lang="en-US" sz="2684" i="true" b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Mitigación 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-5400000">
            <a:off x="12937039" y="2915380"/>
            <a:ext cx="284614" cy="234459"/>
          </a:xfrm>
          <a:custGeom>
            <a:avLst/>
            <a:gdLst/>
            <a:ahLst/>
            <a:cxnLst/>
            <a:rect r="r" b="b" t="t" l="l"/>
            <a:pathLst>
              <a:path h="234459" w="284614">
                <a:moveTo>
                  <a:pt x="0" y="0"/>
                </a:moveTo>
                <a:lnTo>
                  <a:pt x="284614" y="0"/>
                </a:lnTo>
                <a:lnTo>
                  <a:pt x="284614" y="234460"/>
                </a:lnTo>
                <a:lnTo>
                  <a:pt x="0" y="23446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15872" t="0" r="-1622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09519" y="1028700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229992" y="3465011"/>
            <a:ext cx="7853245" cy="8242910"/>
          </a:xfrm>
          <a:custGeom>
            <a:avLst/>
            <a:gdLst/>
            <a:ahLst/>
            <a:cxnLst/>
            <a:rect r="r" b="b" t="t" l="l"/>
            <a:pathLst>
              <a:path h="8242910" w="7853245">
                <a:moveTo>
                  <a:pt x="0" y="0"/>
                </a:moveTo>
                <a:lnTo>
                  <a:pt x="7853245" y="0"/>
                </a:lnTo>
                <a:lnTo>
                  <a:pt x="7853245" y="8242910"/>
                </a:lnTo>
                <a:lnTo>
                  <a:pt x="0" y="82429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flipV="true">
            <a:off x="14689675" y="9220867"/>
            <a:ext cx="2569625" cy="0"/>
          </a:xfrm>
          <a:prstGeom prst="line">
            <a:avLst/>
          </a:prstGeom>
          <a:ln cap="flat" w="38100">
            <a:solidFill>
              <a:srgbClr val="1477B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1386684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58848" y="1373136"/>
            <a:ext cx="6702722" cy="826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00"/>
              </a:lnSpc>
            </a:pPr>
            <a:r>
              <a:rPr lang="en-US" b="true" sz="61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METODOLOGIA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5461919" y="1181100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157639" y="2926848"/>
            <a:ext cx="5369631" cy="660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799" i="true" b="true">
                <a:solidFill>
                  <a:srgbClr val="1CDA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SCRUM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4946" y="4006666"/>
            <a:ext cx="11366370" cy="164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buFont typeface="Arial"/>
              <a:buChar char="•"/>
            </a:pPr>
            <a:r>
              <a:rPr lang="en-US" b="true" sz="2499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Sprints semanales:</a:t>
            </a: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planificación, daily corta, review+retro; tablero Jira (épicas→historias→tareas).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157639" y="5889241"/>
            <a:ext cx="5369631" cy="519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i="true" b="true">
                <a:solidFill>
                  <a:srgbClr val="1CDA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Product Backlog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827454"/>
            <a:ext cx="10751979" cy="861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4244" indent="-267122" lvl="1">
              <a:lnSpc>
                <a:spcPts val="3464"/>
              </a:lnSpc>
              <a:buFont typeface="Arial"/>
              <a:buChar char="•"/>
            </a:pPr>
            <a:r>
              <a:rPr lang="en-US" sz="2474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Artefacto para iterar nuestras tareas, epicas que no son abordables de momento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53213" y="1268361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759234" y="-309384"/>
            <a:ext cx="7727883" cy="12084145"/>
            <a:chOff x="0" y="0"/>
            <a:chExt cx="470593" cy="735870"/>
          </a:xfrm>
        </p:grpSpPr>
        <p:sp>
          <p:nvSpPr>
            <p:cNvPr name="Freeform 4" id="4"/>
            <p:cNvSpPr/>
            <p:nvPr/>
          </p:nvSpPr>
          <p:spPr>
            <a:xfrm flipH="true" flipV="false" rot="0">
              <a:off x="0" y="0"/>
              <a:ext cx="470593" cy="735870"/>
            </a:xfrm>
            <a:custGeom>
              <a:avLst/>
              <a:gdLst/>
              <a:ahLst/>
              <a:cxnLst/>
              <a:rect r="r" b="b" t="t" l="l"/>
              <a:pathLst>
                <a:path h="735870" w="470593">
                  <a:moveTo>
                    <a:pt x="267393" y="0"/>
                  </a:moveTo>
                  <a:lnTo>
                    <a:pt x="0" y="0"/>
                  </a:lnTo>
                  <a:lnTo>
                    <a:pt x="203200" y="735870"/>
                  </a:lnTo>
                  <a:lnTo>
                    <a:pt x="470593" y="735870"/>
                  </a:lnTo>
                  <a:lnTo>
                    <a:pt x="267393" y="0"/>
                  </a:lnTo>
                  <a:close/>
                </a:path>
              </a:pathLst>
            </a:custGeom>
            <a:blipFill>
              <a:blip r:embed="rId4">
                <a:alphaModFix amt="29000"/>
              </a:blip>
              <a:stretch>
                <a:fillRect l="-67351" t="-2719" r="-73734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191424" y="1218040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81713" y="3613588"/>
            <a:ext cx="16124573" cy="3688496"/>
          </a:xfrm>
          <a:custGeom>
            <a:avLst/>
            <a:gdLst/>
            <a:ahLst/>
            <a:cxnLst/>
            <a:rect r="r" b="b" t="t" l="l"/>
            <a:pathLst>
              <a:path h="3688496" w="16124573">
                <a:moveTo>
                  <a:pt x="0" y="0"/>
                </a:moveTo>
                <a:lnTo>
                  <a:pt x="16124574" y="0"/>
                </a:lnTo>
                <a:lnTo>
                  <a:pt x="16124574" y="3688496"/>
                </a:lnTo>
                <a:lnTo>
                  <a:pt x="0" y="36884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279238" y="1122369"/>
            <a:ext cx="3618531" cy="8856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3"/>
              </a:lnSpc>
            </a:pPr>
            <a:r>
              <a:rPr lang="en-US" b="true" sz="6553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GANTT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52427" y="1152132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98036" y="0"/>
            <a:ext cx="11203382" cy="10287000"/>
            <a:chOff x="0" y="0"/>
            <a:chExt cx="1106507" cy="10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06507" cy="1016000"/>
            </a:xfrm>
            <a:custGeom>
              <a:avLst/>
              <a:gdLst/>
              <a:ahLst/>
              <a:cxnLst/>
              <a:rect r="r" b="b" t="t" l="l"/>
              <a:pathLst>
                <a:path h="1016000" w="1106507">
                  <a:moveTo>
                    <a:pt x="0" y="0"/>
                  </a:moveTo>
                  <a:lnTo>
                    <a:pt x="1106507" y="0"/>
                  </a:lnTo>
                  <a:lnTo>
                    <a:pt x="1106507" y="1016000"/>
                  </a:lnTo>
                  <a:lnTo>
                    <a:pt x="0" y="1016000"/>
                  </a:lnTo>
                  <a:close/>
                </a:path>
              </a:pathLst>
            </a:custGeom>
            <a:blipFill>
              <a:blip r:embed="rId4">
                <a:alphaModFix amt="7999"/>
              </a:blip>
              <a:stretch>
                <a:fillRect l="-30192" t="0" r="-30192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5714700" y="549379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 flipV="true">
            <a:off x="15309519" y="9277350"/>
            <a:ext cx="2569625" cy="0"/>
          </a:xfrm>
          <a:prstGeom prst="line">
            <a:avLst/>
          </a:prstGeom>
          <a:ln cap="flat" w="38100">
            <a:solidFill>
              <a:srgbClr val="1477B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803935" y="2735306"/>
            <a:ext cx="16680130" cy="4816388"/>
          </a:xfrm>
          <a:custGeom>
            <a:avLst/>
            <a:gdLst/>
            <a:ahLst/>
            <a:cxnLst/>
            <a:rect r="r" b="b" t="t" l="l"/>
            <a:pathLst>
              <a:path h="4816388" w="16680130">
                <a:moveTo>
                  <a:pt x="0" y="0"/>
                </a:moveTo>
                <a:lnTo>
                  <a:pt x="16680130" y="0"/>
                </a:lnTo>
                <a:lnTo>
                  <a:pt x="16680130" y="4816388"/>
                </a:lnTo>
                <a:lnTo>
                  <a:pt x="0" y="48163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6588" y="1123950"/>
            <a:ext cx="13562931" cy="73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3"/>
              </a:lnSpc>
            </a:pPr>
            <a:r>
              <a:rPr lang="en-US" b="true" sz="5433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ARQUITECTURA DE LA SOLUCIÓN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9850" y="448738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338219" y="590306"/>
            <a:ext cx="1949781" cy="479321"/>
          </a:xfrm>
          <a:custGeom>
            <a:avLst/>
            <a:gdLst/>
            <a:ahLst/>
            <a:cxnLst/>
            <a:rect r="r" b="b" t="t" l="l"/>
            <a:pathLst>
              <a:path h="479321" w="1949781">
                <a:moveTo>
                  <a:pt x="0" y="0"/>
                </a:moveTo>
                <a:lnTo>
                  <a:pt x="1949781" y="0"/>
                </a:lnTo>
                <a:lnTo>
                  <a:pt x="1949781" y="479321"/>
                </a:lnTo>
                <a:lnTo>
                  <a:pt x="0" y="4793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flipV="true">
            <a:off x="15294531" y="9277350"/>
            <a:ext cx="2569625" cy="0"/>
          </a:xfrm>
          <a:prstGeom prst="line">
            <a:avLst/>
          </a:prstGeom>
          <a:ln cap="flat" w="38100">
            <a:solidFill>
              <a:srgbClr val="1477B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5861533" y="278078"/>
            <a:ext cx="11397767" cy="9730844"/>
          </a:xfrm>
          <a:custGeom>
            <a:avLst/>
            <a:gdLst/>
            <a:ahLst/>
            <a:cxnLst/>
            <a:rect r="r" b="b" t="t" l="l"/>
            <a:pathLst>
              <a:path h="9730844" w="11397767">
                <a:moveTo>
                  <a:pt x="0" y="0"/>
                </a:moveTo>
                <a:lnTo>
                  <a:pt x="11397767" y="0"/>
                </a:lnTo>
                <a:lnTo>
                  <a:pt x="11397767" y="9730844"/>
                </a:lnTo>
                <a:lnTo>
                  <a:pt x="0" y="97308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524938"/>
            <a:ext cx="10447280" cy="55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4"/>
              </a:lnSpc>
            </a:pPr>
            <a:r>
              <a:rPr lang="en-US" b="true" sz="4184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MODELO ENTIDAD RELACION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16819" y="8657857"/>
            <a:ext cx="2442481" cy="600443"/>
          </a:xfrm>
          <a:custGeom>
            <a:avLst/>
            <a:gdLst/>
            <a:ahLst/>
            <a:cxnLst/>
            <a:rect r="r" b="b" t="t" l="l"/>
            <a:pathLst>
              <a:path h="600443" w="2442481">
                <a:moveTo>
                  <a:pt x="0" y="0"/>
                </a:moveTo>
                <a:lnTo>
                  <a:pt x="2442481" y="0"/>
                </a:lnTo>
                <a:lnTo>
                  <a:pt x="2442481" y="600443"/>
                </a:lnTo>
                <a:lnTo>
                  <a:pt x="0" y="600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871626" y="-1225555"/>
            <a:ext cx="8832748" cy="2785654"/>
            <a:chOff x="0" y="0"/>
            <a:chExt cx="955026" cy="3011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5026" cy="301194"/>
            </a:xfrm>
            <a:custGeom>
              <a:avLst/>
              <a:gdLst/>
              <a:ahLst/>
              <a:cxnLst/>
              <a:rect r="r" b="b" t="t" l="l"/>
              <a:pathLst>
                <a:path h="301194" w="955026">
                  <a:moveTo>
                    <a:pt x="203200" y="0"/>
                  </a:moveTo>
                  <a:lnTo>
                    <a:pt x="955026" y="0"/>
                  </a:lnTo>
                  <a:lnTo>
                    <a:pt x="751826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01600" y="-38100"/>
              <a:ext cx="751826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628673" y="812865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313748" y="167272"/>
            <a:ext cx="8832748" cy="2785654"/>
            <a:chOff x="0" y="0"/>
            <a:chExt cx="955026" cy="30119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5026" cy="301194"/>
            </a:xfrm>
            <a:custGeom>
              <a:avLst/>
              <a:gdLst/>
              <a:ahLst/>
              <a:cxnLst/>
              <a:rect r="r" b="b" t="t" l="l"/>
              <a:pathLst>
                <a:path h="301194" w="955026">
                  <a:moveTo>
                    <a:pt x="203200" y="0"/>
                  </a:moveTo>
                  <a:lnTo>
                    <a:pt x="955026" y="0"/>
                  </a:lnTo>
                  <a:lnTo>
                    <a:pt x="751826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40000"/>
                  </a:srgbClr>
                </a:gs>
                <a:gs pos="100000">
                  <a:srgbClr val="1CDAFF">
                    <a:alpha val="4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101600" y="-38100"/>
              <a:ext cx="751826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9219391" y="2656382"/>
            <a:ext cx="3974514" cy="1840929"/>
          </a:xfrm>
          <a:custGeom>
            <a:avLst/>
            <a:gdLst/>
            <a:ahLst/>
            <a:cxnLst/>
            <a:rect r="r" b="b" t="t" l="l"/>
            <a:pathLst>
              <a:path h="1840929" w="3974514">
                <a:moveTo>
                  <a:pt x="0" y="0"/>
                </a:moveTo>
                <a:lnTo>
                  <a:pt x="3974514" y="0"/>
                </a:lnTo>
                <a:lnTo>
                  <a:pt x="3974514" y="1840929"/>
                </a:lnTo>
                <a:lnTo>
                  <a:pt x="0" y="18409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899" t="0" r="-89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563007" y="5814879"/>
            <a:ext cx="3061830" cy="3061830"/>
          </a:xfrm>
          <a:custGeom>
            <a:avLst/>
            <a:gdLst/>
            <a:ahLst/>
            <a:cxnLst/>
            <a:rect r="r" b="b" t="t" l="l"/>
            <a:pathLst>
              <a:path h="3061830" w="3061830">
                <a:moveTo>
                  <a:pt x="0" y="0"/>
                </a:moveTo>
                <a:lnTo>
                  <a:pt x="3061830" y="0"/>
                </a:lnTo>
                <a:lnTo>
                  <a:pt x="3061830" y="3061830"/>
                </a:lnTo>
                <a:lnTo>
                  <a:pt x="0" y="3061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13016" y="2419223"/>
            <a:ext cx="2713394" cy="2315247"/>
          </a:xfrm>
          <a:custGeom>
            <a:avLst/>
            <a:gdLst/>
            <a:ahLst/>
            <a:cxnLst/>
            <a:rect r="r" b="b" t="t" l="l"/>
            <a:pathLst>
              <a:path h="2315247" w="2713394">
                <a:moveTo>
                  <a:pt x="0" y="0"/>
                </a:moveTo>
                <a:lnTo>
                  <a:pt x="2713393" y="0"/>
                </a:lnTo>
                <a:lnTo>
                  <a:pt x="2713393" y="2315247"/>
                </a:lnTo>
                <a:lnTo>
                  <a:pt x="0" y="23152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8598" r="0" b="-8598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81219" y="5892481"/>
            <a:ext cx="2976987" cy="2906627"/>
          </a:xfrm>
          <a:custGeom>
            <a:avLst/>
            <a:gdLst/>
            <a:ahLst/>
            <a:cxnLst/>
            <a:rect r="r" b="b" t="t" l="l"/>
            <a:pathLst>
              <a:path h="2906627" w="2976987">
                <a:moveTo>
                  <a:pt x="0" y="0"/>
                </a:moveTo>
                <a:lnTo>
                  <a:pt x="2976987" y="0"/>
                </a:lnTo>
                <a:lnTo>
                  <a:pt x="2976987" y="2906627"/>
                </a:lnTo>
                <a:lnTo>
                  <a:pt x="0" y="2906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318" t="-404" r="-1318" b="-8025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2766011" y="3955922"/>
            <a:ext cx="1260399" cy="1187578"/>
          </a:xfrm>
          <a:custGeom>
            <a:avLst/>
            <a:gdLst/>
            <a:ahLst/>
            <a:cxnLst/>
            <a:rect r="r" b="b" t="t" l="l"/>
            <a:pathLst>
              <a:path h="1187578" w="1260399">
                <a:moveTo>
                  <a:pt x="0" y="0"/>
                </a:moveTo>
                <a:lnTo>
                  <a:pt x="1260398" y="0"/>
                </a:lnTo>
                <a:lnTo>
                  <a:pt x="1260398" y="1187578"/>
                </a:lnTo>
                <a:lnTo>
                  <a:pt x="0" y="118757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-317477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506565" y="688819"/>
            <a:ext cx="12807183" cy="951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b="true" sz="71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TECNOLOGIAS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158206" y="3401501"/>
            <a:ext cx="4503550" cy="537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0"/>
              </a:lnSpc>
            </a:pPr>
            <a:r>
              <a:rPr lang="en-US" b="true" sz="39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N8N (GEMINI 2.5)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158206" y="7073062"/>
            <a:ext cx="5230604" cy="62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00"/>
              </a:lnSpc>
            </a:pPr>
            <a:r>
              <a:rPr lang="en-US" b="true" sz="46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POSTGRESQL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751540" y="3420551"/>
            <a:ext cx="2724590" cy="621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00"/>
              </a:lnSpc>
            </a:pPr>
            <a:r>
              <a:rPr lang="en-US" b="true" sz="46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DJANGO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157507" y="6879851"/>
            <a:ext cx="3318623" cy="1393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88"/>
              </a:lnSpc>
            </a:pPr>
            <a:r>
              <a:rPr lang="en-US" b="true" sz="5388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GOOGLE CLOUD 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16819" y="8657857"/>
            <a:ext cx="2442481" cy="600443"/>
          </a:xfrm>
          <a:custGeom>
            <a:avLst/>
            <a:gdLst/>
            <a:ahLst/>
            <a:cxnLst/>
            <a:rect r="r" b="b" t="t" l="l"/>
            <a:pathLst>
              <a:path h="600443" w="2442481">
                <a:moveTo>
                  <a:pt x="0" y="0"/>
                </a:moveTo>
                <a:lnTo>
                  <a:pt x="2442481" y="0"/>
                </a:lnTo>
                <a:lnTo>
                  <a:pt x="2442481" y="600443"/>
                </a:lnTo>
                <a:lnTo>
                  <a:pt x="0" y="600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8591711"/>
            <a:ext cx="4452117" cy="666589"/>
            <a:chOff x="0" y="0"/>
            <a:chExt cx="2011660" cy="3011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11660" cy="301194"/>
            </a:xfrm>
            <a:custGeom>
              <a:avLst/>
              <a:gdLst/>
              <a:ahLst/>
              <a:cxnLst/>
              <a:rect r="r" b="b" t="t" l="l"/>
              <a:pathLst>
                <a:path h="301194" w="2011660">
                  <a:moveTo>
                    <a:pt x="203200" y="0"/>
                  </a:moveTo>
                  <a:lnTo>
                    <a:pt x="2011660" y="0"/>
                  </a:lnTo>
                  <a:lnTo>
                    <a:pt x="1808460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01600" y="-38100"/>
              <a:ext cx="1808460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2091897" y="2596860"/>
            <a:ext cx="8832748" cy="2785654"/>
            <a:chOff x="0" y="0"/>
            <a:chExt cx="955026" cy="3011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55026" cy="301194"/>
            </a:xfrm>
            <a:custGeom>
              <a:avLst/>
              <a:gdLst/>
              <a:ahLst/>
              <a:cxnLst/>
              <a:rect r="r" b="b" t="t" l="l"/>
              <a:pathLst>
                <a:path h="301194" w="955026">
                  <a:moveTo>
                    <a:pt x="203200" y="0"/>
                  </a:moveTo>
                  <a:lnTo>
                    <a:pt x="955026" y="0"/>
                  </a:lnTo>
                  <a:lnTo>
                    <a:pt x="751826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01600" y="-38100"/>
              <a:ext cx="751826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628673" y="340229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181219" y="618881"/>
            <a:ext cx="1735338" cy="301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3"/>
              </a:lnSpc>
            </a:pPr>
            <a:r>
              <a:rPr lang="en-US" b="true" sz="2163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CARMATCH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85270" y="4516050"/>
            <a:ext cx="8030532" cy="1847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b="true" sz="7100" i="true" u="sng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  <a:hlinkClick r:id="rId6" tooltip="https://drive.google.com/file/d/1Kd9vWvZGbon20PLHtsbtVS41ZpztFCzR/view?usp=sharing"/>
              </a:rPr>
              <a:t>VIDEO A CONTINUACIÓN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16819" y="8657857"/>
            <a:ext cx="2442481" cy="600443"/>
          </a:xfrm>
          <a:custGeom>
            <a:avLst/>
            <a:gdLst/>
            <a:ahLst/>
            <a:cxnLst/>
            <a:rect r="r" b="b" t="t" l="l"/>
            <a:pathLst>
              <a:path h="600443" w="2442481">
                <a:moveTo>
                  <a:pt x="0" y="0"/>
                </a:moveTo>
                <a:lnTo>
                  <a:pt x="2442481" y="0"/>
                </a:lnTo>
                <a:lnTo>
                  <a:pt x="2442481" y="600443"/>
                </a:lnTo>
                <a:lnTo>
                  <a:pt x="0" y="600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403057" y="340229"/>
            <a:ext cx="4452117" cy="666589"/>
            <a:chOff x="0" y="0"/>
            <a:chExt cx="2011660" cy="3011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11660" cy="301194"/>
            </a:xfrm>
            <a:custGeom>
              <a:avLst/>
              <a:gdLst/>
              <a:ahLst/>
              <a:cxnLst/>
              <a:rect r="r" b="b" t="t" l="l"/>
              <a:pathLst>
                <a:path h="301194" w="2011660">
                  <a:moveTo>
                    <a:pt x="203200" y="0"/>
                  </a:moveTo>
                  <a:lnTo>
                    <a:pt x="2011660" y="0"/>
                  </a:lnTo>
                  <a:lnTo>
                    <a:pt x="1808460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01600" y="-38100"/>
              <a:ext cx="1808460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752427" y="923775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77235" y="4805781"/>
            <a:ext cx="7832294" cy="1553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Integración de Procesos de Scrapping</a:t>
            </a: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iImplementación de Chat Bot Personalizado</a:t>
            </a: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Sistema automotriz</a:t>
            </a: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Administración de flujos N8N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98031" y="797348"/>
            <a:ext cx="8030532" cy="951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00"/>
              </a:lnSpc>
            </a:pPr>
            <a:r>
              <a:rPr lang="en-US" b="true" sz="71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RESUMEN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52427" y="3650833"/>
            <a:ext cx="4833610" cy="595395"/>
            <a:chOff x="0" y="0"/>
            <a:chExt cx="2445192" cy="3011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445192" cy="301194"/>
            </a:xfrm>
            <a:custGeom>
              <a:avLst/>
              <a:gdLst/>
              <a:ahLst/>
              <a:cxnLst/>
              <a:rect r="r" b="b" t="t" l="l"/>
              <a:pathLst>
                <a:path h="301194" w="2445192">
                  <a:moveTo>
                    <a:pt x="203200" y="0"/>
                  </a:moveTo>
                  <a:lnTo>
                    <a:pt x="2445192" y="0"/>
                  </a:lnTo>
                  <a:lnTo>
                    <a:pt x="2241992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38100"/>
              <a:ext cx="2241992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865620" y="3601039"/>
            <a:ext cx="3438503" cy="609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1"/>
              </a:lnSpc>
            </a:pPr>
            <a:r>
              <a:rPr lang="en-US" sz="3444" i="true" b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LOGRADO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-5400000">
            <a:off x="1276801" y="3783329"/>
            <a:ext cx="401082" cy="330403"/>
          </a:xfrm>
          <a:custGeom>
            <a:avLst/>
            <a:gdLst/>
            <a:ahLst/>
            <a:cxnLst/>
            <a:rect r="r" b="b" t="t" l="l"/>
            <a:pathLst>
              <a:path h="330403" w="401082">
                <a:moveTo>
                  <a:pt x="0" y="0"/>
                </a:moveTo>
                <a:lnTo>
                  <a:pt x="401082" y="0"/>
                </a:lnTo>
                <a:lnTo>
                  <a:pt x="401082" y="330403"/>
                </a:lnTo>
                <a:lnTo>
                  <a:pt x="0" y="3304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872" t="0" r="-1622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9193013" y="3650833"/>
            <a:ext cx="4833610" cy="595395"/>
            <a:chOff x="0" y="0"/>
            <a:chExt cx="2445192" cy="30119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45192" cy="301194"/>
            </a:xfrm>
            <a:custGeom>
              <a:avLst/>
              <a:gdLst/>
              <a:ahLst/>
              <a:cxnLst/>
              <a:rect r="r" b="b" t="t" l="l"/>
              <a:pathLst>
                <a:path h="301194" w="2445192">
                  <a:moveTo>
                    <a:pt x="203200" y="0"/>
                  </a:moveTo>
                  <a:lnTo>
                    <a:pt x="2445192" y="0"/>
                  </a:lnTo>
                  <a:lnTo>
                    <a:pt x="2241992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01600" y="-38100"/>
              <a:ext cx="2241992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306206" y="3601039"/>
            <a:ext cx="3438503" cy="609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1"/>
              </a:lnSpc>
            </a:pPr>
            <a:r>
              <a:rPr lang="en-US" sz="3444" i="true" b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OBSTACULO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-5400000">
            <a:off x="9714767" y="3774839"/>
            <a:ext cx="401082" cy="330403"/>
          </a:xfrm>
          <a:custGeom>
            <a:avLst/>
            <a:gdLst/>
            <a:ahLst/>
            <a:cxnLst/>
            <a:rect r="r" b="b" t="t" l="l"/>
            <a:pathLst>
              <a:path h="330403" w="401082">
                <a:moveTo>
                  <a:pt x="0" y="0"/>
                </a:moveTo>
                <a:lnTo>
                  <a:pt x="401082" y="0"/>
                </a:lnTo>
                <a:lnTo>
                  <a:pt x="401082" y="330403"/>
                </a:lnTo>
                <a:lnTo>
                  <a:pt x="0" y="3304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872" t="0" r="-1622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9193013" y="4805781"/>
            <a:ext cx="6436671" cy="1207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Costos Cloud.</a:t>
            </a:r>
          </a:p>
          <a:p>
            <a:pPr algn="l" marL="474979" indent="-237490" lvl="1">
              <a:lnSpc>
                <a:spcPts val="307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Tecnología Next.js descartado.</a:t>
            </a:r>
          </a:p>
          <a:p>
            <a:pPr algn="l">
              <a:lnSpc>
                <a:spcPts val="3079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E0E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16819" y="8657857"/>
            <a:ext cx="2442481" cy="600443"/>
          </a:xfrm>
          <a:custGeom>
            <a:avLst/>
            <a:gdLst/>
            <a:ahLst/>
            <a:cxnLst/>
            <a:rect r="r" b="b" t="t" l="l"/>
            <a:pathLst>
              <a:path h="600443" w="2442481">
                <a:moveTo>
                  <a:pt x="0" y="0"/>
                </a:moveTo>
                <a:lnTo>
                  <a:pt x="2442481" y="0"/>
                </a:lnTo>
                <a:lnTo>
                  <a:pt x="2442481" y="600443"/>
                </a:lnTo>
                <a:lnTo>
                  <a:pt x="0" y="600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8591711"/>
            <a:ext cx="4452117" cy="666589"/>
            <a:chOff x="0" y="0"/>
            <a:chExt cx="2011660" cy="3011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11660" cy="301194"/>
            </a:xfrm>
            <a:custGeom>
              <a:avLst/>
              <a:gdLst/>
              <a:ahLst/>
              <a:cxnLst/>
              <a:rect r="r" b="b" t="t" l="l"/>
              <a:pathLst>
                <a:path h="301194" w="2011660">
                  <a:moveTo>
                    <a:pt x="203200" y="0"/>
                  </a:moveTo>
                  <a:lnTo>
                    <a:pt x="2011660" y="0"/>
                  </a:lnTo>
                  <a:lnTo>
                    <a:pt x="1808460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01600" y="-38100"/>
              <a:ext cx="1808460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2091897" y="2596860"/>
            <a:ext cx="8832748" cy="2785654"/>
            <a:chOff x="0" y="0"/>
            <a:chExt cx="955026" cy="3011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55026" cy="301194"/>
            </a:xfrm>
            <a:custGeom>
              <a:avLst/>
              <a:gdLst/>
              <a:ahLst/>
              <a:cxnLst/>
              <a:rect r="r" b="b" t="t" l="l"/>
              <a:pathLst>
                <a:path h="301194" w="955026">
                  <a:moveTo>
                    <a:pt x="203200" y="0"/>
                  </a:moveTo>
                  <a:lnTo>
                    <a:pt x="955026" y="0"/>
                  </a:lnTo>
                  <a:lnTo>
                    <a:pt x="751826" y="301194"/>
                  </a:lnTo>
                  <a:lnTo>
                    <a:pt x="0" y="301194"/>
                  </a:lnTo>
                  <a:lnTo>
                    <a:pt x="2032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006EB5">
                    <a:alpha val="100000"/>
                  </a:srgbClr>
                </a:gs>
                <a:gs pos="100000">
                  <a:srgbClr val="1CDAFF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01600" y="-38100"/>
              <a:ext cx="751826" cy="3392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7480877" y="3429617"/>
            <a:ext cx="8030532" cy="1291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b="true" sz="9600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GRACIAS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628673" y="340229"/>
            <a:ext cx="552546" cy="579962"/>
          </a:xfrm>
          <a:custGeom>
            <a:avLst/>
            <a:gdLst/>
            <a:ahLst/>
            <a:cxnLst/>
            <a:rect r="r" b="b" t="t" l="l"/>
            <a:pathLst>
              <a:path h="579962" w="552546">
                <a:moveTo>
                  <a:pt x="0" y="0"/>
                </a:moveTo>
                <a:lnTo>
                  <a:pt x="552546" y="0"/>
                </a:lnTo>
                <a:lnTo>
                  <a:pt x="552546" y="579962"/>
                </a:lnTo>
                <a:lnTo>
                  <a:pt x="0" y="579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81219" y="618881"/>
            <a:ext cx="1735338" cy="301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3"/>
              </a:lnSpc>
            </a:pPr>
            <a:r>
              <a:rPr lang="en-US" b="true" sz="2163" i="true">
                <a:solidFill>
                  <a:srgbClr val="FFFFFF"/>
                </a:solidFill>
                <a:latin typeface="Object Sans Bold Italics"/>
                <a:ea typeface="Object Sans Bold Italics"/>
                <a:cs typeface="Object Sans Bold Italics"/>
                <a:sym typeface="Object Sans Bold Italics"/>
              </a:rPr>
              <a:t>CARMATCH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DAG2FVucn5c</dc:identifier>
  <dcterms:modified xsi:type="dcterms:W3CDTF">2011-08-01T06:04:30Z</dcterms:modified>
  <cp:revision>1</cp:revision>
  <dc:title>CARMATCH-2</dc:title>
</cp:coreProperties>
</file>